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43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795D9-7080-5194-E3C7-7043CB6FE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6743CB-E44F-76D5-BA26-B2EFA9B38673}"/>
              </a:ext>
            </a:extLst>
          </p:cNvPr>
          <p:cNvSpPr txBox="1"/>
          <p:nvPr/>
        </p:nvSpPr>
        <p:spPr>
          <a:xfrm>
            <a:off x="685800" y="320040"/>
            <a:ext cx="10881360" cy="3816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Aptos"/>
              </a:defRPr>
            </a:pPr>
            <a:r>
              <a:rPr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 hóa dữ liệu giúp quản lý phiếu mượn chính xác hơn</a:t>
            </a:r>
            <a:r>
              <a:rPr 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210EAC-F8BF-DE82-E901-F77772A2F72C}"/>
              </a:ext>
            </a:extLst>
          </p:cNvPr>
          <p:cNvSpPr txBox="1"/>
          <p:nvPr/>
        </p:nvSpPr>
        <p:spPr>
          <a:xfrm>
            <a:off x="685800" y="2606040"/>
            <a:ext cx="3657600" cy="44319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600" b="0">
                <a:solidFill>
                  <a:srgbClr val="323C46"/>
                </a:solidFill>
                <a:latin typeface="Aptos"/>
              </a:defRPr>
            </a:pPr>
            <a:r>
              <a:rPr sz="120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mã sách hợp lệ</a:t>
            </a:r>
            <a:br>
              <a:rPr sz="120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20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mã chưa có trong danh mục: S099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7B768E-5E23-35FD-9C2F-CF2A1CC15C06}"/>
              </a:ext>
            </a:extLst>
          </p:cNvPr>
          <p:cNvSpPr txBox="1"/>
          <p:nvPr/>
        </p:nvSpPr>
        <p:spPr>
          <a:xfrm>
            <a:off x="4857750" y="1208877"/>
            <a:ext cx="621792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900" b="1">
                <a:solidFill>
                  <a:srgbClr val="1E293B"/>
                </a:solidFill>
                <a:latin typeface="Aptos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Số phiếu theo tình trạng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CE08A3-86C6-7766-4527-79308AA71B08}"/>
              </a:ext>
            </a:extLst>
          </p:cNvPr>
          <p:cNvSpPr txBox="1"/>
          <p:nvPr/>
        </p:nvSpPr>
        <p:spPr>
          <a:xfrm>
            <a:off x="4846320" y="1934504"/>
            <a:ext cx="137160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400" b="0">
                <a:solidFill>
                  <a:srgbClr val="323C46"/>
                </a:solidFill>
                <a:latin typeface="Aptos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Đang mượn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75C3C9-8A96-76D5-A15F-9192BA061E6D}"/>
              </a:ext>
            </a:extLst>
          </p:cNvPr>
          <p:cNvSpPr/>
          <p:nvPr/>
        </p:nvSpPr>
        <p:spPr>
          <a:xfrm>
            <a:off x="5909310" y="1892808"/>
            <a:ext cx="4114800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8D34D-5976-D350-97BC-96B4059AAEB6}"/>
              </a:ext>
            </a:extLst>
          </p:cNvPr>
          <p:cNvSpPr txBox="1"/>
          <p:nvPr/>
        </p:nvSpPr>
        <p:spPr>
          <a:xfrm>
            <a:off x="10104120" y="1926884"/>
            <a:ext cx="45720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400" b="1">
                <a:solidFill>
                  <a:srgbClr val="323C46"/>
                </a:solidFill>
                <a:latin typeface="Aptos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0D2777-B2C7-A4FA-15AC-7DD09E1239B8}"/>
              </a:ext>
            </a:extLst>
          </p:cNvPr>
          <p:cNvSpPr txBox="1"/>
          <p:nvPr/>
        </p:nvSpPr>
        <p:spPr>
          <a:xfrm>
            <a:off x="4937760" y="2672499"/>
            <a:ext cx="137160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400" b="0">
                <a:solidFill>
                  <a:srgbClr val="323C46"/>
                </a:solidFill>
                <a:latin typeface="Aptos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Quá hạn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538FFD-CB78-F8C2-8CA9-B32736606552}"/>
              </a:ext>
            </a:extLst>
          </p:cNvPr>
          <p:cNvSpPr/>
          <p:nvPr/>
        </p:nvSpPr>
        <p:spPr>
          <a:xfrm>
            <a:off x="5909310" y="2607944"/>
            <a:ext cx="205740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4AFF0E-1139-1B60-A4DD-9BD3556E8ADE}"/>
              </a:ext>
            </a:extLst>
          </p:cNvPr>
          <p:cNvSpPr txBox="1"/>
          <p:nvPr/>
        </p:nvSpPr>
        <p:spPr>
          <a:xfrm>
            <a:off x="8046720" y="2626994"/>
            <a:ext cx="45720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400" b="1">
                <a:solidFill>
                  <a:srgbClr val="323C46"/>
                </a:solidFill>
                <a:latin typeface="Aptos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707FA8-4A00-EC59-6874-EBF4AC4AE480}"/>
              </a:ext>
            </a:extLst>
          </p:cNvPr>
          <p:cNvSpPr txBox="1"/>
          <p:nvPr/>
        </p:nvSpPr>
        <p:spPr>
          <a:xfrm>
            <a:off x="4937760" y="3283945"/>
            <a:ext cx="137160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400" b="0">
                <a:solidFill>
                  <a:srgbClr val="323C46"/>
                </a:solidFill>
                <a:latin typeface="Aptos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Đã trả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62D7E9-D5A7-9488-6241-730A4039196F}"/>
              </a:ext>
            </a:extLst>
          </p:cNvPr>
          <p:cNvSpPr/>
          <p:nvPr/>
        </p:nvSpPr>
        <p:spPr>
          <a:xfrm>
            <a:off x="5909310" y="3266907"/>
            <a:ext cx="2057400" cy="292608"/>
          </a:xfrm>
          <a:prstGeom prst="rect">
            <a:avLst/>
          </a:prstGeom>
          <a:solidFill>
            <a:srgbClr val="168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35736B-16F0-981C-BC44-F962F3265AB3}"/>
              </a:ext>
            </a:extLst>
          </p:cNvPr>
          <p:cNvSpPr txBox="1"/>
          <p:nvPr/>
        </p:nvSpPr>
        <p:spPr>
          <a:xfrm>
            <a:off x="8046720" y="3266907"/>
            <a:ext cx="45720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400" b="1">
                <a:solidFill>
                  <a:srgbClr val="323C46"/>
                </a:solidFill>
                <a:latin typeface="Aptos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6A9391-B03D-3616-44F7-4182EB288965}"/>
              </a:ext>
            </a:extLst>
          </p:cNvPr>
          <p:cNvSpPr txBox="1"/>
          <p:nvPr/>
        </p:nvSpPr>
        <p:spPr>
          <a:xfrm>
            <a:off x="560070" y="4048125"/>
            <a:ext cx="1069848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800" b="1">
                <a:solidFill>
                  <a:srgbClr val="B45309"/>
                </a:solidFill>
                <a:latin typeface="Aptos"/>
              </a:defRPr>
            </a:pPr>
            <a:r>
              <a:rPr sz="1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 cần làm: xác minh mã S099 trước khi chốt dữ liệu.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054467-E77C-9FF7-AD7A-9142F73D8DD7}"/>
              </a:ext>
            </a:extLst>
          </p:cNvPr>
          <p:cNvSpPr txBox="1"/>
          <p:nvPr/>
        </p:nvSpPr>
        <p:spPr>
          <a:xfrm>
            <a:off x="560070" y="4355639"/>
            <a:ext cx="1078992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200" b="0">
                <a:solidFill>
                  <a:srgbClr val="5A646E"/>
                </a:solidFill>
                <a:latin typeface="Aptos"/>
              </a:defRPr>
            </a:pPr>
            <a:r>
              <a:rPr sz="1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 đồ cột được chọn để so sánh số lượng phiếu giữa các trạng thái</a:t>
            </a:r>
            <a:r>
              <a:rPr sz="1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1B482BDC-1BA9-3CC7-C862-13F75C17C658}"/>
              </a:ext>
            </a:extLst>
          </p:cNvPr>
          <p:cNvSpPr txBox="1"/>
          <p:nvPr/>
        </p:nvSpPr>
        <p:spPr>
          <a:xfrm>
            <a:off x="685800" y="864346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QUẢN LÝ THƯ VIỆN TRƯỜNG</a:t>
            </a: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F9FFFF4B-E6CC-E7F9-44E6-E2F9E3F2A2E7}"/>
              </a:ext>
            </a:extLst>
          </p:cNvPr>
          <p:cNvSpPr txBox="1"/>
          <p:nvPr/>
        </p:nvSpPr>
        <p:spPr>
          <a:xfrm>
            <a:off x="685800" y="133814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PHIẾU MƯỢN</a:t>
            </a:r>
          </a:p>
        </p:txBody>
      </p:sp>
    </p:spTree>
    <p:extLst>
      <p:ext uri="{BB962C8B-B14F-4D97-AF65-F5344CB8AC3E}">
        <p14:creationId xmlns:p14="http://schemas.microsoft.com/office/powerpoint/2010/main" val="88034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82</Words>
  <Application>Microsoft Office PowerPoint</Application>
  <PresentationFormat>Màn hình rộng</PresentationFormat>
  <Paragraphs>13</Paragraphs>
  <Slides>1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Bản trình bày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Luong Thanh Thu D26TXCN03-N</cp:lastModifiedBy>
  <cp:revision>2</cp:revision>
  <dcterms:created xsi:type="dcterms:W3CDTF">2013-01-27T09:14:16Z</dcterms:created>
  <dcterms:modified xsi:type="dcterms:W3CDTF">2026-10-21T12:30:14Z</dcterms:modified>
  <cp:category/>
</cp:coreProperties>
</file>